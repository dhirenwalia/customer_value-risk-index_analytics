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73700-30E2-6C99-8936-857131C4C1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8000" dirty="0"/>
              <a:t>EPSILON 7.0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648171-C202-DF90-3511-F11FF2D6B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524256"/>
          </a:xfrm>
        </p:spPr>
        <p:txBody>
          <a:bodyPr/>
          <a:lstStyle/>
          <a:p>
            <a:r>
              <a:rPr lang="en-IN" dirty="0"/>
              <a:t>The Analytics Case Competition</a:t>
            </a:r>
          </a:p>
        </p:txBody>
      </p:sp>
    </p:spTree>
    <p:extLst>
      <p:ext uri="{BB962C8B-B14F-4D97-AF65-F5344CB8AC3E}">
        <p14:creationId xmlns:p14="http://schemas.microsoft.com/office/powerpoint/2010/main" val="899135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EF9EB-F847-7EFC-C7D1-342A60BF0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700" y="121413"/>
            <a:ext cx="9372600" cy="650747"/>
          </a:xfrm>
        </p:spPr>
        <p:txBody>
          <a:bodyPr>
            <a:noAutofit/>
          </a:bodyPr>
          <a:lstStyle/>
          <a:p>
            <a:r>
              <a:rPr lang="en-US" sz="2000" b="1" dirty="0"/>
              <a:t>DEL‑RPI — Dynamic Energy &amp; Leverage Risk‑Adjusted Performance Index</a:t>
            </a:r>
            <a:endParaRPr lang="en-IN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19A75-49E5-2CAD-E737-9FD3863A1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432561"/>
            <a:ext cx="3276600" cy="1681989"/>
          </a:xfrm>
        </p:spPr>
        <p:txBody>
          <a:bodyPr>
            <a:normAutofit/>
          </a:bodyPr>
          <a:lstStyle/>
          <a:p>
            <a:pPr>
              <a:spcBef>
                <a:spcPts val="500"/>
              </a:spcBef>
            </a:pPr>
            <a:r>
              <a:rPr lang="en-US" sz="1200" b="1" dirty="0"/>
              <a:t>From Customer Ranking to Strategic Value Engineering</a:t>
            </a:r>
          </a:p>
          <a:p>
            <a:pPr>
              <a:spcBef>
                <a:spcPts val="500"/>
              </a:spcBef>
            </a:pPr>
            <a:r>
              <a:rPr lang="en-US" sz="1200" dirty="0"/>
              <a:t>Most companies measure customers using:</a:t>
            </a:r>
          </a:p>
          <a:p>
            <a:pPr>
              <a:spcBef>
                <a:spcPts val="500"/>
              </a:spcBef>
            </a:pPr>
            <a:r>
              <a:rPr lang="en-US" sz="1200" dirty="0"/>
              <a:t>Revenue</a:t>
            </a:r>
          </a:p>
          <a:p>
            <a:pPr>
              <a:spcBef>
                <a:spcPts val="500"/>
              </a:spcBef>
            </a:pPr>
            <a:r>
              <a:rPr lang="en-US" sz="1200" dirty="0"/>
              <a:t>Frequency</a:t>
            </a:r>
          </a:p>
          <a:p>
            <a:pPr>
              <a:spcBef>
                <a:spcPts val="500"/>
              </a:spcBef>
            </a:pPr>
            <a:r>
              <a:rPr lang="en-US" sz="1200" dirty="0"/>
              <a:t>Lifetime Value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0181652-6D7F-329F-DE24-5BB6C3313C4B}"/>
              </a:ext>
            </a:extLst>
          </p:cNvPr>
          <p:cNvSpPr txBox="1">
            <a:spLocks/>
          </p:cNvSpPr>
          <p:nvPr/>
        </p:nvSpPr>
        <p:spPr bwMode="black">
          <a:xfrm>
            <a:off x="279400" y="1010919"/>
            <a:ext cx="6944360" cy="252000"/>
          </a:xfrm>
          <a:prstGeom prst="rect">
            <a:avLst/>
          </a:prstGeom>
          <a:solidFill>
            <a:schemeClr val="tx1"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600" b="1" dirty="0"/>
              <a:t>Strategic Idea &amp; Psychological Foundation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FA810E1-0892-BC06-E6E9-999FDFD91C60}"/>
              </a:ext>
            </a:extLst>
          </p:cNvPr>
          <p:cNvSpPr txBox="1">
            <a:spLocks/>
          </p:cNvSpPr>
          <p:nvPr/>
        </p:nvSpPr>
        <p:spPr>
          <a:xfrm>
            <a:off x="3556000" y="1290322"/>
            <a:ext cx="3667760" cy="863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But this creates a psychological bias:</a:t>
            </a:r>
            <a:br>
              <a:rPr lang="en-US" sz="1200" dirty="0"/>
            </a:br>
            <a:r>
              <a:rPr lang="en-US" sz="1200" dirty="0"/>
              <a:t>➡️ We overvalue visible revenue</a:t>
            </a:r>
            <a:br>
              <a:rPr lang="en-US" sz="1200" dirty="0"/>
            </a:br>
            <a:r>
              <a:rPr lang="en-US" sz="1200" dirty="0"/>
              <a:t>➡️ We ignore hidden risk</a:t>
            </a:r>
            <a:br>
              <a:rPr lang="en-US" sz="1200" dirty="0"/>
            </a:br>
            <a:r>
              <a:rPr lang="en-US" sz="1200" dirty="0"/>
              <a:t>➡️ We underinvest in scalable customers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E375FC-F426-CC2D-D2F1-54329D36EB9E}"/>
              </a:ext>
            </a:extLst>
          </p:cNvPr>
          <p:cNvSpPr txBox="1">
            <a:spLocks/>
          </p:cNvSpPr>
          <p:nvPr/>
        </p:nvSpPr>
        <p:spPr>
          <a:xfrm>
            <a:off x="3556000" y="2149350"/>
            <a:ext cx="3667760" cy="965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The Real Strategic Problem</a:t>
            </a:r>
          </a:p>
          <a:p>
            <a:pPr marL="0" indent="0">
              <a:buNone/>
            </a:pPr>
            <a:r>
              <a:rPr lang="en-US" sz="1200" dirty="0"/>
              <a:t>Equinox does not suffer from low revenue.</a:t>
            </a:r>
            <a:br>
              <a:rPr lang="en-US" sz="1200" dirty="0"/>
            </a:br>
            <a:r>
              <a:rPr lang="en-US" sz="1200" dirty="0"/>
              <a:t>It suffers from </a:t>
            </a:r>
            <a:r>
              <a:rPr lang="en-US" sz="1200" b="1" dirty="0"/>
              <a:t>unmeasured volatility, friction, and uneven customer quality.</a:t>
            </a:r>
            <a:endParaRPr lang="en-US" sz="12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2769791-3381-EF57-6879-A5C8737B3B53}"/>
              </a:ext>
            </a:extLst>
          </p:cNvPr>
          <p:cNvSpPr txBox="1">
            <a:spLocks/>
          </p:cNvSpPr>
          <p:nvPr/>
        </p:nvSpPr>
        <p:spPr bwMode="black">
          <a:xfrm>
            <a:off x="7366000" y="1005842"/>
            <a:ext cx="4546600" cy="252000"/>
          </a:xfrm>
          <a:prstGeom prst="rect">
            <a:avLst/>
          </a:prstGeom>
          <a:solidFill>
            <a:schemeClr val="tx1"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600" b="1" dirty="0"/>
              <a:t>Core Psychological Insight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D9D900-21A7-2F11-42B8-4E25247CC5A3}"/>
              </a:ext>
            </a:extLst>
          </p:cNvPr>
          <p:cNvSpPr txBox="1">
            <a:spLocks/>
          </p:cNvSpPr>
          <p:nvPr/>
        </p:nvSpPr>
        <p:spPr>
          <a:xfrm>
            <a:off x="279400" y="3743961"/>
            <a:ext cx="3525520" cy="196087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IN" sz="1200" b="1" dirty="0"/>
              <a:t>Customer Value as Energy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200" dirty="0"/>
              <a:t>We modelled customer value as four interacting forces: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200" b="1" dirty="0"/>
              <a:t>1️⃣ Stored Energy (SE)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200" dirty="0"/>
              <a:t>Economic mass already accumulated</a:t>
            </a:r>
            <a:br>
              <a:rPr lang="en-IN" sz="1200" dirty="0"/>
            </a:br>
            <a:r>
              <a:rPr lang="en-IN" sz="1200" dirty="0"/>
              <a:t>Represents stability and historical strength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200" b="1" dirty="0"/>
              <a:t>2️⃣ Kinetic Energy (KE)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200" dirty="0"/>
              <a:t>Behavioural acceleration</a:t>
            </a:r>
            <a:br>
              <a:rPr lang="en-IN" sz="1200" dirty="0"/>
            </a:br>
            <a:r>
              <a:rPr lang="en-IN" sz="1200" dirty="0"/>
              <a:t>Represents growth trajectory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3D3A126-09C8-F99D-4119-23EC7BD2F605}"/>
              </a:ext>
            </a:extLst>
          </p:cNvPr>
          <p:cNvSpPr txBox="1">
            <a:spLocks/>
          </p:cNvSpPr>
          <p:nvPr/>
        </p:nvSpPr>
        <p:spPr bwMode="black">
          <a:xfrm>
            <a:off x="279400" y="3459480"/>
            <a:ext cx="4546600" cy="252000"/>
          </a:xfrm>
          <a:prstGeom prst="rect">
            <a:avLst/>
          </a:prstGeom>
          <a:solidFill>
            <a:schemeClr val="tx1"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600" b="1" dirty="0"/>
              <a:t>Framework Architecture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F10A04-E8F7-3269-EF8B-8F872B0F359D}"/>
              </a:ext>
            </a:extLst>
          </p:cNvPr>
          <p:cNvSpPr txBox="1">
            <a:spLocks/>
          </p:cNvSpPr>
          <p:nvPr/>
        </p:nvSpPr>
        <p:spPr>
          <a:xfrm>
            <a:off x="7366000" y="3743960"/>
            <a:ext cx="4404360" cy="1955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True customer value is not static.</a:t>
            </a:r>
          </a:p>
          <a:p>
            <a:pPr marL="0" indent="0">
              <a:buNone/>
            </a:pPr>
            <a:r>
              <a:rPr lang="en-US" sz="1200" dirty="0"/>
              <a:t>It is:</a:t>
            </a:r>
          </a:p>
          <a:p>
            <a:r>
              <a:rPr lang="en-US" sz="1200" b="1" dirty="0"/>
              <a:t>Risk‑Adjusted Energy × Investment Unlock Potential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This is deeper than RFM.</a:t>
            </a:r>
            <a:br>
              <a:rPr lang="en-US" sz="1200" dirty="0"/>
            </a:br>
            <a:r>
              <a:rPr lang="en-US" sz="1200" dirty="0"/>
              <a:t>This is deeper than LTV.</a:t>
            </a:r>
            <a:br>
              <a:rPr lang="en-US" sz="1200" dirty="0"/>
            </a:br>
            <a:r>
              <a:rPr lang="en-US" sz="1200" dirty="0"/>
              <a:t>This is strategic asset modelling.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220EF83-5DD3-2DB8-E502-2F1CD47C8E8C}"/>
              </a:ext>
            </a:extLst>
          </p:cNvPr>
          <p:cNvSpPr txBox="1">
            <a:spLocks/>
          </p:cNvSpPr>
          <p:nvPr/>
        </p:nvSpPr>
        <p:spPr>
          <a:xfrm>
            <a:off x="3804920" y="4033517"/>
            <a:ext cx="3053080" cy="16713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500"/>
              </a:spcBef>
              <a:buNone/>
            </a:pPr>
            <a:r>
              <a:rPr lang="en-IN" sz="1200" b="1" dirty="0"/>
              <a:t>3️⃣ Friction (F)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200" dirty="0"/>
              <a:t>Value erosion forces</a:t>
            </a:r>
            <a:br>
              <a:rPr lang="en-IN" sz="1200" dirty="0"/>
            </a:br>
            <a:r>
              <a:rPr lang="en-IN" sz="1200" dirty="0"/>
              <a:t>Represents risk, returns, and volatility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200" b="1" dirty="0"/>
              <a:t>4️⃣ Strategic Leverage (SL)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200" dirty="0"/>
              <a:t>Responsiveness to capital</a:t>
            </a:r>
            <a:br>
              <a:rPr lang="en-IN" sz="1200" dirty="0"/>
            </a:br>
            <a:r>
              <a:rPr lang="en-IN" sz="1200" dirty="0"/>
              <a:t>Represents how much incremental value ₹1 can unlock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4653FF1-BB8A-D111-48CB-29681FFBBD6D}"/>
              </a:ext>
            </a:extLst>
          </p:cNvPr>
          <p:cNvSpPr txBox="1">
            <a:spLocks/>
          </p:cNvSpPr>
          <p:nvPr/>
        </p:nvSpPr>
        <p:spPr bwMode="black">
          <a:xfrm>
            <a:off x="7366000" y="3459480"/>
            <a:ext cx="4546600" cy="252000"/>
          </a:xfrm>
          <a:prstGeom prst="rect">
            <a:avLst/>
          </a:prstGeom>
          <a:solidFill>
            <a:schemeClr val="tx1"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600" b="1" dirty="0"/>
              <a:t>Core Psychological Insight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8849CBC-BE99-4E4E-4306-C91A2B5372AE}"/>
              </a:ext>
            </a:extLst>
          </p:cNvPr>
          <p:cNvSpPr txBox="1">
            <a:spLocks/>
          </p:cNvSpPr>
          <p:nvPr/>
        </p:nvSpPr>
        <p:spPr>
          <a:xfrm>
            <a:off x="7518400" y="1442722"/>
            <a:ext cx="4394200" cy="18242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200" dirty="0"/>
              <a:t>Customer value behaves like a portfolio of assets:</a:t>
            </a:r>
          </a:p>
          <a:p>
            <a:pPr>
              <a:spcBef>
                <a:spcPts val="500"/>
              </a:spcBef>
            </a:pPr>
            <a:r>
              <a:rPr lang="en-US" sz="1200" dirty="0"/>
              <a:t>Some are heavy but unstable</a:t>
            </a:r>
          </a:p>
          <a:p>
            <a:pPr>
              <a:spcBef>
                <a:spcPts val="500"/>
              </a:spcBef>
            </a:pPr>
            <a:r>
              <a:rPr lang="en-US" sz="1200" dirty="0"/>
              <a:t>Some are small but accelerating</a:t>
            </a:r>
          </a:p>
          <a:p>
            <a:pPr>
              <a:spcBef>
                <a:spcPts val="500"/>
              </a:spcBef>
            </a:pPr>
            <a:r>
              <a:rPr lang="en-US" sz="1200" dirty="0"/>
              <a:t>Some destroy value through friction</a:t>
            </a:r>
          </a:p>
          <a:p>
            <a:pPr>
              <a:spcBef>
                <a:spcPts val="500"/>
              </a:spcBef>
            </a:pPr>
            <a:r>
              <a:rPr lang="en-US" sz="1200" dirty="0"/>
              <a:t>Some respond strongly to investment</a:t>
            </a:r>
          </a:p>
          <a:p>
            <a:pPr>
              <a:spcBef>
                <a:spcPts val="500"/>
              </a:spcBef>
            </a:pPr>
            <a:r>
              <a:rPr lang="en-US" sz="1200" dirty="0"/>
              <a:t>So we built a model inspired by:</a:t>
            </a:r>
            <a:br>
              <a:rPr lang="en-US" sz="1200" dirty="0"/>
            </a:br>
            <a:r>
              <a:rPr lang="en-US" sz="1200" b="1" dirty="0"/>
              <a:t>Energy dynamics + portfolio risk logic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78983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9F647-947B-8D83-D2D3-F608DCB18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B6205-BB0D-1803-6D0C-526DC3B64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550" y="108208"/>
            <a:ext cx="10502900" cy="552704"/>
          </a:xfrm>
        </p:spPr>
        <p:txBody>
          <a:bodyPr>
            <a:noAutofit/>
          </a:bodyPr>
          <a:lstStyle/>
          <a:p>
            <a:r>
              <a:rPr lang="en-US" b="1" dirty="0"/>
              <a:t>The Science &amp; Mathematics Behind DEL‑RPI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1498CC9-64A3-5E67-6A41-368E1AA8A8D5}"/>
              </a:ext>
            </a:extLst>
          </p:cNvPr>
          <p:cNvSpPr txBox="1">
            <a:spLocks/>
          </p:cNvSpPr>
          <p:nvPr/>
        </p:nvSpPr>
        <p:spPr bwMode="black">
          <a:xfrm>
            <a:off x="279400" y="888971"/>
            <a:ext cx="2910840" cy="406431"/>
          </a:xfrm>
          <a:prstGeom prst="rect">
            <a:avLst/>
          </a:prstGeom>
          <a:solidFill>
            <a:schemeClr val="tx1"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/>
              <a:t>Step 1 — Quantifying the Components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C53437E-DC10-72AB-8A3D-65C8B75814E3}"/>
              </a:ext>
            </a:extLst>
          </p:cNvPr>
          <p:cNvSpPr txBox="1">
            <a:spLocks/>
          </p:cNvSpPr>
          <p:nvPr/>
        </p:nvSpPr>
        <p:spPr bwMode="black">
          <a:xfrm>
            <a:off x="3351527" y="888971"/>
            <a:ext cx="2277112" cy="406431"/>
          </a:xfrm>
          <a:prstGeom prst="rect">
            <a:avLst/>
          </a:prstGeom>
          <a:solidFill>
            <a:schemeClr val="tx1"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/>
              <a:t>Step 2 — Energy Construction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54D2223-289A-003D-7036-6C754321E469}"/>
              </a:ext>
            </a:extLst>
          </p:cNvPr>
          <p:cNvSpPr txBox="1">
            <a:spLocks/>
          </p:cNvSpPr>
          <p:nvPr/>
        </p:nvSpPr>
        <p:spPr>
          <a:xfrm>
            <a:off x="279400" y="3321240"/>
            <a:ext cx="3581400" cy="3018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IN" sz="1200" dirty="0"/>
              <a:t>The dashboard is not a visualisation tool.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200" dirty="0"/>
              <a:t>It is a </a:t>
            </a:r>
            <a:r>
              <a:rPr lang="en-IN" sz="1200" b="1" dirty="0"/>
              <a:t>Strategic Decision Engine.</a:t>
            </a:r>
            <a:endParaRPr lang="en-IN" sz="1200" dirty="0"/>
          </a:p>
          <a:p>
            <a:pPr marL="0" indent="0">
              <a:spcBef>
                <a:spcPts val="500"/>
              </a:spcBef>
              <a:buNone/>
            </a:pPr>
            <a:r>
              <a:rPr lang="en-IN" sz="1200" dirty="0"/>
              <a:t>Each KPI directly maps to DEL‑RPI components:</a:t>
            </a:r>
          </a:p>
          <a:p>
            <a:pPr>
              <a:spcBef>
                <a:spcPts val="500"/>
              </a:spcBef>
            </a:pPr>
            <a:r>
              <a:rPr lang="en-IN" sz="1200" b="1" dirty="0"/>
              <a:t>Stored Energy Visuals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200" dirty="0"/>
              <a:t>Total Revenue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200" dirty="0"/>
              <a:t>Net Revenue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200" dirty="0"/>
              <a:t>Premium %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200" dirty="0"/>
              <a:t>Average Order Value</a:t>
            </a:r>
          </a:p>
          <a:p>
            <a:pPr>
              <a:spcBef>
                <a:spcPts val="500"/>
              </a:spcBef>
            </a:pPr>
            <a:r>
              <a:rPr lang="en-IN" sz="1200" b="1" dirty="0"/>
              <a:t>Kinetic Energy Visuals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200" dirty="0"/>
              <a:t>Growth Index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200" dirty="0"/>
              <a:t>Engagement trends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200" dirty="0"/>
              <a:t>Recency patterns</a:t>
            </a:r>
          </a:p>
          <a:p>
            <a:pPr marL="0" indent="0">
              <a:spcBef>
                <a:spcPts val="500"/>
              </a:spcBef>
              <a:buNone/>
            </a:pPr>
            <a:endParaRPr lang="en-IN" sz="12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1982B3-8BC1-0975-9944-06896B74305F}"/>
              </a:ext>
            </a:extLst>
          </p:cNvPr>
          <p:cNvSpPr txBox="1">
            <a:spLocks/>
          </p:cNvSpPr>
          <p:nvPr/>
        </p:nvSpPr>
        <p:spPr bwMode="black">
          <a:xfrm>
            <a:off x="279400" y="3002739"/>
            <a:ext cx="6863080" cy="282480"/>
          </a:xfrm>
          <a:prstGeom prst="rect">
            <a:avLst/>
          </a:prstGeom>
          <a:solidFill>
            <a:schemeClr val="tx1"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How the Framework Powers the Dashboard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3B92EA7D-D017-D137-4FC5-039B5D5FCE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9400" y="1327882"/>
                <a:ext cx="2910840" cy="16388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312863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4313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65735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882775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500"/>
                  </a:spcBef>
                </a:pPr>
                <a:r>
                  <a:rPr lang="en-IN" sz="1200" dirty="0"/>
                  <a:t>All variables were normalised using: Min‑Max Scaling</a:t>
                </a:r>
              </a:p>
              <a:p>
                <a:pPr marL="0" indent="0">
                  <a:spcBef>
                    <a:spcPts val="5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ar-AE" sz="1200"/>
                          </m:ctrlPr>
                        </m:dPr>
                        <m:e>
                          <m:r>
                            <a:rPr lang="ar-AE" sz="1200" i="1"/>
                            <m:t>𝑋</m:t>
                          </m:r>
                          <m:r>
                            <a:rPr lang="ar-AE" sz="1200"/>
                            <m:t>−</m:t>
                          </m:r>
                          <m:r>
                            <a:rPr lang="ar-AE" sz="1200" i="1"/>
                            <m:t>𝑀𝑖𝑛</m:t>
                          </m:r>
                        </m:e>
                      </m:d>
                      <m:r>
                        <a:rPr lang="ar-AE" sz="1200"/>
                        <m:t>/</m:t>
                      </m:r>
                      <m:d>
                        <m:dPr>
                          <m:ctrlPr>
                            <a:rPr lang="ar-AE" sz="1200" i="1"/>
                          </m:ctrlPr>
                        </m:dPr>
                        <m:e>
                          <m:r>
                            <a:rPr lang="ar-AE" sz="1200" i="1"/>
                            <m:t>𝑀𝑎𝑥</m:t>
                          </m:r>
                          <m:r>
                            <a:rPr lang="ar-AE" sz="1200"/>
                            <m:t>−</m:t>
                          </m:r>
                          <m:r>
                            <a:rPr lang="ar-AE" sz="1200" i="1"/>
                            <m:t>𝑀𝑖𝑛</m:t>
                          </m:r>
                        </m:e>
                      </m:d>
                    </m:oMath>
                  </m:oMathPara>
                </a14:m>
                <a:endParaRPr lang="ar-AE" sz="1200" dirty="0"/>
              </a:p>
              <a:p>
                <a:pPr marL="0" indent="0">
                  <a:spcBef>
                    <a:spcPts val="500"/>
                  </a:spcBef>
                  <a:buNone/>
                </a:pPr>
                <a:r>
                  <a:rPr lang="en-IN" sz="1200" dirty="0"/>
                  <a:t>This ensures:</a:t>
                </a:r>
              </a:p>
              <a:p>
                <a:pPr>
                  <a:spcBef>
                    <a:spcPts val="500"/>
                  </a:spcBef>
                </a:pPr>
                <a:r>
                  <a:rPr lang="en-IN" sz="1200" dirty="0"/>
                  <a:t>Transparency</a:t>
                </a:r>
              </a:p>
              <a:p>
                <a:pPr>
                  <a:spcBef>
                    <a:spcPts val="500"/>
                  </a:spcBef>
                </a:pPr>
                <a:r>
                  <a:rPr lang="en-IN" sz="1200" dirty="0"/>
                  <a:t>Comparability</a:t>
                </a:r>
              </a:p>
              <a:p>
                <a:pPr>
                  <a:spcBef>
                    <a:spcPts val="500"/>
                  </a:spcBef>
                </a:pPr>
                <a:r>
                  <a:rPr lang="en-IN" sz="1200" dirty="0"/>
                  <a:t>No black-box bias</a:t>
                </a:r>
              </a:p>
            </p:txBody>
          </p:sp>
        </mc:Choice>
        <mc:Fallback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3B92EA7D-D017-D137-4FC5-039B5D5FC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1327882"/>
                <a:ext cx="2910840" cy="1638837"/>
              </a:xfrm>
              <a:prstGeom prst="rect">
                <a:avLst/>
              </a:prstGeom>
              <a:blipFill>
                <a:blip r:embed="rId2"/>
                <a:stretch>
                  <a:fillRect l="-210" t="-372" b="-2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42DC91F-18A6-B371-2A57-675431552543}"/>
              </a:ext>
            </a:extLst>
          </p:cNvPr>
          <p:cNvSpPr txBox="1">
            <a:spLocks/>
          </p:cNvSpPr>
          <p:nvPr/>
        </p:nvSpPr>
        <p:spPr>
          <a:xfrm>
            <a:off x="3351527" y="1327882"/>
            <a:ext cx="2277112" cy="16388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Base Energy</a:t>
            </a:r>
            <a:br>
              <a:rPr lang="en-US" sz="1200" dirty="0"/>
            </a:br>
            <a:r>
              <a:rPr lang="en-US" sz="1200" dirty="0"/>
              <a:t>BE = SE + KE</a:t>
            </a:r>
          </a:p>
          <a:p>
            <a:pPr marL="0" indent="0">
              <a:buNone/>
            </a:pPr>
            <a:r>
              <a:rPr lang="en-US" sz="1200" dirty="0"/>
              <a:t>This captures:</a:t>
            </a:r>
          </a:p>
          <a:p>
            <a:r>
              <a:rPr lang="en-US" sz="1200" dirty="0"/>
              <a:t>Current financial weight</a:t>
            </a:r>
          </a:p>
          <a:p>
            <a:r>
              <a:rPr lang="en-US" sz="1200" dirty="0"/>
              <a:t>Growth direction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9F47ADA-C5C8-DA15-EDC5-32BACD33FD10}"/>
              </a:ext>
            </a:extLst>
          </p:cNvPr>
          <p:cNvSpPr txBox="1">
            <a:spLocks/>
          </p:cNvSpPr>
          <p:nvPr/>
        </p:nvSpPr>
        <p:spPr bwMode="black">
          <a:xfrm>
            <a:off x="5789925" y="873242"/>
            <a:ext cx="2561593" cy="422160"/>
          </a:xfrm>
          <a:prstGeom prst="rect">
            <a:avLst/>
          </a:prstGeom>
          <a:solidFill>
            <a:schemeClr val="tx1"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b="1" dirty="0"/>
              <a:t>Step 3 — Risk Adjustment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19EF7D7-E749-A561-13F4-ADE99A93ACBF}"/>
              </a:ext>
            </a:extLst>
          </p:cNvPr>
          <p:cNvSpPr txBox="1">
            <a:spLocks/>
          </p:cNvSpPr>
          <p:nvPr/>
        </p:nvSpPr>
        <p:spPr>
          <a:xfrm>
            <a:off x="5789926" y="1295402"/>
            <a:ext cx="2561594" cy="16713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200" dirty="0"/>
              <a:t>Risk‑Adjusted Energy</a:t>
            </a:r>
            <a:br>
              <a:rPr lang="en-US" sz="1200" dirty="0"/>
            </a:br>
            <a:r>
              <a:rPr lang="en-US" sz="1200" dirty="0"/>
              <a:t>RAE = BE × (1 − F)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200" dirty="0"/>
              <a:t>This ensures:</a:t>
            </a:r>
          </a:p>
          <a:p>
            <a:pPr>
              <a:spcBef>
                <a:spcPts val="500"/>
              </a:spcBef>
            </a:pPr>
            <a:r>
              <a:rPr lang="en-US" sz="1200" dirty="0"/>
              <a:t>High return rate reduces usable value</a:t>
            </a:r>
          </a:p>
          <a:p>
            <a:pPr>
              <a:spcBef>
                <a:spcPts val="500"/>
              </a:spcBef>
            </a:pPr>
            <a:r>
              <a:rPr lang="en-US" sz="1200" dirty="0"/>
              <a:t>Volatile customers are discounted</a:t>
            </a:r>
          </a:p>
          <a:p>
            <a:pPr>
              <a:spcBef>
                <a:spcPts val="500"/>
              </a:spcBef>
            </a:pPr>
            <a:r>
              <a:rPr lang="en-US" sz="1200" dirty="0"/>
              <a:t>Stability is rewarded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5B8C1CDB-D62E-F389-65CB-426C2654E6B2}"/>
              </a:ext>
            </a:extLst>
          </p:cNvPr>
          <p:cNvSpPr txBox="1">
            <a:spLocks/>
          </p:cNvSpPr>
          <p:nvPr/>
        </p:nvSpPr>
        <p:spPr bwMode="black">
          <a:xfrm>
            <a:off x="8512804" y="888971"/>
            <a:ext cx="2561593" cy="422160"/>
          </a:xfrm>
          <a:prstGeom prst="rect">
            <a:avLst/>
          </a:prstGeom>
          <a:solidFill>
            <a:schemeClr val="tx1"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b="1" dirty="0"/>
              <a:t>Step 4 — Final Index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0B175F1-AE89-C4F7-6069-0EED949F2282}"/>
              </a:ext>
            </a:extLst>
          </p:cNvPr>
          <p:cNvSpPr txBox="1">
            <a:spLocks/>
          </p:cNvSpPr>
          <p:nvPr/>
        </p:nvSpPr>
        <p:spPr>
          <a:xfrm>
            <a:off x="8512804" y="1311131"/>
            <a:ext cx="3399795" cy="16713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200" dirty="0"/>
              <a:t>DEL‑RPI = (RAE × 0.6) + (SL × 0.4)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200" dirty="0"/>
              <a:t>Why 60–40?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200" dirty="0"/>
              <a:t>Because: Present stability matters more than hypothetical upside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200" dirty="0"/>
              <a:t>But leverage drives future transformation</a:t>
            </a:r>
          </a:p>
          <a:p>
            <a:pPr>
              <a:spcBef>
                <a:spcPts val="500"/>
              </a:spcBef>
            </a:pPr>
            <a:r>
              <a:rPr lang="en-US" sz="1200" dirty="0"/>
              <a:t>This balances: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200" dirty="0"/>
              <a:t>Stability + Growth + Risk + </a:t>
            </a:r>
            <a:r>
              <a:rPr lang="en-US" sz="1200" dirty="0" err="1"/>
              <a:t>Investability</a:t>
            </a:r>
            <a:br>
              <a:rPr lang="en-US" sz="1200" dirty="0"/>
            </a:br>
            <a:endParaRPr lang="en-US" sz="1200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089BBC19-420D-FD89-9E09-1E24FDF48F34}"/>
              </a:ext>
            </a:extLst>
          </p:cNvPr>
          <p:cNvSpPr txBox="1">
            <a:spLocks/>
          </p:cNvSpPr>
          <p:nvPr/>
        </p:nvSpPr>
        <p:spPr>
          <a:xfrm>
            <a:off x="3860800" y="3305510"/>
            <a:ext cx="3281680" cy="30185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IN" sz="1200" b="1" dirty="0"/>
              <a:t>Friction Visuals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200" dirty="0"/>
              <a:t>Overall Risk Score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200" dirty="0"/>
              <a:t>Return Rate %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200" dirty="0"/>
              <a:t>Refund Ratio</a:t>
            </a:r>
          </a:p>
          <a:p>
            <a:pPr>
              <a:spcBef>
                <a:spcPts val="500"/>
              </a:spcBef>
            </a:pPr>
            <a:r>
              <a:rPr lang="en-IN" sz="1200" b="1" dirty="0"/>
              <a:t>Strategic Leverage Visuals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200" dirty="0"/>
              <a:t>Conversion gap indicators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200" dirty="0"/>
              <a:t>Subscription potential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200" dirty="0"/>
              <a:t> Under-monetised segments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E7DB458-9C39-08EF-EBB4-E5ACE762F2D4}"/>
              </a:ext>
            </a:extLst>
          </p:cNvPr>
          <p:cNvSpPr txBox="1">
            <a:spLocks/>
          </p:cNvSpPr>
          <p:nvPr/>
        </p:nvSpPr>
        <p:spPr>
          <a:xfrm>
            <a:off x="7142480" y="3305510"/>
            <a:ext cx="4204970" cy="29479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IN" sz="1200" b="1" dirty="0"/>
              <a:t>What the Dashboard Enables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200" dirty="0"/>
              <a:t>✔ Real-time risk-adjusted customer ranking</a:t>
            </a:r>
            <a:br>
              <a:rPr lang="en-IN" sz="1200" dirty="0"/>
            </a:br>
            <a:r>
              <a:rPr lang="en-IN" sz="1200" dirty="0"/>
              <a:t>✔ Identification of value-destructive revenue</a:t>
            </a:r>
            <a:br>
              <a:rPr lang="en-IN" sz="1200" dirty="0"/>
            </a:br>
            <a:r>
              <a:rPr lang="en-IN" sz="1200" dirty="0"/>
              <a:t>✔ Portfolio-level stability analysis</a:t>
            </a:r>
            <a:br>
              <a:rPr lang="en-IN" sz="1200" dirty="0"/>
            </a:br>
            <a:r>
              <a:rPr lang="en-IN" sz="1200" dirty="0"/>
              <a:t>✔ Capital allocation simulation</a:t>
            </a:r>
          </a:p>
          <a:p>
            <a:pPr>
              <a:spcBef>
                <a:spcPts val="500"/>
              </a:spcBef>
            </a:pPr>
            <a:r>
              <a:rPr lang="en-IN" sz="1200" dirty="0"/>
              <a:t>The dashboard operationalizes DEL‑RPI.</a:t>
            </a:r>
          </a:p>
          <a:p>
            <a:pPr>
              <a:spcBef>
                <a:spcPts val="500"/>
              </a:spcBef>
            </a:pPr>
            <a:r>
              <a:rPr lang="en-IN" sz="1200" dirty="0"/>
              <a:t>It converts theory into action.</a:t>
            </a:r>
          </a:p>
        </p:txBody>
      </p:sp>
    </p:spTree>
    <p:extLst>
      <p:ext uri="{BB962C8B-B14F-4D97-AF65-F5344CB8AC3E}">
        <p14:creationId xmlns:p14="http://schemas.microsoft.com/office/powerpoint/2010/main" val="1986704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3981E-43DE-1EB4-FE85-4A126564F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2699D-F7B4-042E-79BF-296A347D1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294" y="107456"/>
            <a:ext cx="8848090" cy="420112"/>
          </a:xfrm>
        </p:spPr>
        <p:txBody>
          <a:bodyPr>
            <a:noAutofit/>
          </a:bodyPr>
          <a:lstStyle/>
          <a:p>
            <a:r>
              <a:rPr lang="en-IN" sz="2400" b="1" dirty="0"/>
              <a:t>Strategic Segmentation &amp; Capital Logic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7523431-44F9-625B-E233-554F70638893}"/>
              </a:ext>
            </a:extLst>
          </p:cNvPr>
          <p:cNvSpPr txBox="1">
            <a:spLocks/>
          </p:cNvSpPr>
          <p:nvPr/>
        </p:nvSpPr>
        <p:spPr>
          <a:xfrm>
            <a:off x="3882389" y="4642264"/>
            <a:ext cx="3188020" cy="1869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200" b="1" dirty="0"/>
              <a:t>3️⃣ Volatile Sprinters</a:t>
            </a:r>
          </a:p>
          <a:p>
            <a:pPr marL="0" indent="0">
              <a:buNone/>
            </a:pPr>
            <a:r>
              <a:rPr lang="en-IN" sz="1200" dirty="0"/>
              <a:t>High growth but high friction</a:t>
            </a:r>
            <a:br>
              <a:rPr lang="en-IN" sz="1200" dirty="0"/>
            </a:br>
            <a:r>
              <a:rPr lang="en-IN" sz="1200" dirty="0"/>
              <a:t>→ Fix before investing</a:t>
            </a:r>
          </a:p>
          <a:p>
            <a:pPr marL="0" indent="0">
              <a:buNone/>
            </a:pPr>
            <a:r>
              <a:rPr lang="en-IN" sz="1200" b="1" dirty="0"/>
              <a:t>4️⃣ Dormant Assets</a:t>
            </a:r>
          </a:p>
          <a:p>
            <a:pPr marL="0" indent="0">
              <a:buNone/>
            </a:pPr>
            <a:r>
              <a:rPr lang="en-IN" sz="1200" dirty="0"/>
              <a:t>Low energy, low leverage</a:t>
            </a:r>
            <a:br>
              <a:rPr lang="en-IN" sz="1200" dirty="0"/>
            </a:br>
            <a:r>
              <a:rPr lang="en-IN" sz="1200" dirty="0"/>
              <a:t>→ Minimal capital allocation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7CE57F58-397A-3273-19CB-74F8C82FD312}"/>
              </a:ext>
            </a:extLst>
          </p:cNvPr>
          <p:cNvSpPr txBox="1">
            <a:spLocks/>
          </p:cNvSpPr>
          <p:nvPr/>
        </p:nvSpPr>
        <p:spPr>
          <a:xfrm>
            <a:off x="455294" y="982972"/>
            <a:ext cx="5823586" cy="35784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500"/>
              </a:spcBef>
              <a:buNone/>
            </a:pPr>
            <a:r>
              <a:rPr lang="en-US" sz="1200" b="1" dirty="0"/>
              <a:t>1️⃣ Most Influential Components (From Dashboard Insights)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200" dirty="0"/>
              <a:t>Based on metric </a:t>
            </a:r>
            <a:r>
              <a:rPr lang="en-US" sz="1200" dirty="0" err="1"/>
              <a:t>behaviour</a:t>
            </a:r>
            <a:r>
              <a:rPr lang="en-US" sz="1200" dirty="0"/>
              <a:t> and variance observed: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200" b="1" dirty="0"/>
              <a:t>🟠 Friction (F) — Highly </a:t>
            </a:r>
            <a:r>
              <a:rPr lang="en-US" sz="1200" b="1" dirty="0" err="1"/>
              <a:t>Influencable</a:t>
            </a:r>
            <a:endParaRPr lang="en-US" sz="1200" b="1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200" dirty="0"/>
              <a:t>Return Rate %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200" dirty="0"/>
              <a:t>Refund Ratio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200" dirty="0"/>
              <a:t>Conversion Drop-offs</a:t>
            </a:r>
          </a:p>
          <a:p>
            <a:pPr>
              <a:spcBef>
                <a:spcPts val="500"/>
              </a:spcBef>
            </a:pPr>
            <a:r>
              <a:rPr lang="en-US" sz="1200" dirty="0"/>
              <a:t>Why?</a:t>
            </a:r>
            <a:br>
              <a:rPr lang="en-US" sz="1200" dirty="0"/>
            </a:br>
            <a:r>
              <a:rPr lang="en-US" sz="1200" dirty="0"/>
              <a:t>Operational + policy interventions can directly reduce erosion.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200" b="1" dirty="0"/>
              <a:t>🟢 Kinetic Energy (KE) — Moderately to Highly Influenceable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200" dirty="0"/>
              <a:t>Purchase frequency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200" dirty="0"/>
              <a:t>Recency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200" dirty="0"/>
              <a:t>Engagement growth</a:t>
            </a:r>
          </a:p>
          <a:p>
            <a:pPr>
              <a:spcBef>
                <a:spcPts val="500"/>
              </a:spcBef>
            </a:pPr>
            <a:r>
              <a:rPr lang="en-US" sz="1200" dirty="0"/>
              <a:t>Why?</a:t>
            </a:r>
            <a:br>
              <a:rPr lang="en-US" sz="1200" dirty="0"/>
            </a:br>
            <a:r>
              <a:rPr lang="en-US" sz="1200" dirty="0"/>
              <a:t>Targeted campaigns and </a:t>
            </a:r>
            <a:r>
              <a:rPr lang="en-US" sz="1200" dirty="0" err="1"/>
              <a:t>behavioural</a:t>
            </a:r>
            <a:r>
              <a:rPr lang="en-US" sz="1200" dirty="0"/>
              <a:t> nudges accelerate the trajectory.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4BD93C1-8CD7-98C0-C7B0-A1C4224A411A}"/>
              </a:ext>
            </a:extLst>
          </p:cNvPr>
          <p:cNvSpPr txBox="1">
            <a:spLocks/>
          </p:cNvSpPr>
          <p:nvPr/>
        </p:nvSpPr>
        <p:spPr bwMode="black">
          <a:xfrm>
            <a:off x="1166494" y="650120"/>
            <a:ext cx="7943850" cy="252000"/>
          </a:xfrm>
          <a:prstGeom prst="rect">
            <a:avLst/>
          </a:prstGeom>
          <a:solidFill>
            <a:schemeClr val="tx1"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b="1" dirty="0"/>
              <a:t>Capital Allocation Decision (₹1 Crore Deployment Strategy)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92654A6-71AF-5CB4-EA76-5AD211D89556}"/>
              </a:ext>
            </a:extLst>
          </p:cNvPr>
          <p:cNvSpPr txBox="1">
            <a:spLocks/>
          </p:cNvSpPr>
          <p:nvPr/>
        </p:nvSpPr>
        <p:spPr>
          <a:xfrm>
            <a:off x="6096000" y="982972"/>
            <a:ext cx="5640706" cy="35784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500"/>
              </a:spcBef>
              <a:buNone/>
            </a:pPr>
            <a:r>
              <a:rPr lang="en-US" sz="1200" b="1" dirty="0"/>
              <a:t>🟣 Strategic Leverage (SL) — High ROI Component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200" dirty="0"/>
              <a:t>Subscription conversion gap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200" dirty="0"/>
              <a:t>Cart-to-purchase gap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200" dirty="0"/>
              <a:t>Under-</a:t>
            </a:r>
            <a:r>
              <a:rPr lang="en-US" sz="1200" dirty="0" err="1"/>
              <a:t>monetised</a:t>
            </a:r>
            <a:r>
              <a:rPr lang="en-US" sz="1200" dirty="0"/>
              <a:t> engagement</a:t>
            </a:r>
          </a:p>
          <a:p>
            <a:pPr>
              <a:spcBef>
                <a:spcPts val="500"/>
              </a:spcBef>
            </a:pPr>
            <a:r>
              <a:rPr lang="en-US" sz="1200" dirty="0"/>
              <a:t>Why?</a:t>
            </a:r>
            <a:br>
              <a:rPr lang="en-US" sz="1200" dirty="0"/>
            </a:br>
            <a:r>
              <a:rPr lang="en-US" sz="1200" dirty="0"/>
              <a:t>These customers already show intent — small capital unlocks disproportionate value.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200" b="1" dirty="0"/>
              <a:t>🔵 Stored Energy (SE) — Low Influenceability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200" dirty="0"/>
              <a:t>Historical revenue cannot be “invested in.”</a:t>
            </a:r>
            <a:br>
              <a:rPr lang="en-US" sz="1200" dirty="0"/>
            </a:br>
            <a:r>
              <a:rPr lang="en-US" sz="1200" dirty="0"/>
              <a:t>It is an outcome, not a lever.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200" dirty="0"/>
              <a:t>Therefore:</a:t>
            </a:r>
            <a:br>
              <a:rPr lang="en-US" sz="1200" dirty="0"/>
            </a:br>
            <a:r>
              <a:rPr lang="en-US" sz="1200" dirty="0"/>
              <a:t>Capital is deployed primarily toward </a:t>
            </a:r>
            <a:r>
              <a:rPr lang="en-US" sz="1200" b="1" dirty="0"/>
              <a:t>F reduction + KE acceleration + SL amplification.</a:t>
            </a:r>
            <a:endParaRPr lang="en-US" sz="12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1FA04E9-BACD-9ADD-75B5-B26480FCAD1D}"/>
              </a:ext>
            </a:extLst>
          </p:cNvPr>
          <p:cNvSpPr txBox="1">
            <a:spLocks/>
          </p:cNvSpPr>
          <p:nvPr/>
        </p:nvSpPr>
        <p:spPr>
          <a:xfrm>
            <a:off x="1166494" y="4642264"/>
            <a:ext cx="2715895" cy="19922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200" b="1" dirty="0"/>
              <a:t>1️⃣ Anchored Titans</a:t>
            </a:r>
          </a:p>
          <a:p>
            <a:pPr marL="0" indent="0">
              <a:buNone/>
            </a:pPr>
            <a:r>
              <a:rPr lang="en-IN" sz="1200" dirty="0"/>
              <a:t>High stability, strong stored energy</a:t>
            </a:r>
            <a:br>
              <a:rPr lang="en-IN" sz="1200" dirty="0"/>
            </a:br>
            <a:r>
              <a:rPr lang="en-IN" sz="1200" dirty="0"/>
              <a:t>→ Protect &amp; retain</a:t>
            </a:r>
          </a:p>
          <a:p>
            <a:pPr marL="0" indent="0">
              <a:buNone/>
            </a:pPr>
            <a:r>
              <a:rPr lang="en-IN" sz="1200" b="1" dirty="0"/>
              <a:t>2️⃣ Emerging Rockets</a:t>
            </a:r>
          </a:p>
          <a:p>
            <a:pPr marL="0" indent="0">
              <a:buNone/>
            </a:pPr>
            <a:r>
              <a:rPr lang="en-IN" sz="1200" dirty="0"/>
              <a:t>High growth + leverage</a:t>
            </a:r>
            <a:br>
              <a:rPr lang="en-IN" sz="1200" dirty="0"/>
            </a:br>
            <a:r>
              <a:rPr lang="en-IN" sz="1200" dirty="0"/>
              <a:t>→ Aggressively scale</a:t>
            </a:r>
          </a:p>
        </p:txBody>
      </p:sp>
    </p:spTree>
    <p:extLst>
      <p:ext uri="{BB962C8B-B14F-4D97-AF65-F5344CB8AC3E}">
        <p14:creationId xmlns:p14="http://schemas.microsoft.com/office/powerpoint/2010/main" val="2238562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8E972-EA03-0B2E-C536-8D1EDB2F3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82F5F-6A23-EC06-A491-14B431DFD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955" y="143640"/>
            <a:ext cx="8848090" cy="420112"/>
          </a:xfrm>
        </p:spPr>
        <p:txBody>
          <a:bodyPr>
            <a:noAutofit/>
          </a:bodyPr>
          <a:lstStyle/>
          <a:p>
            <a:r>
              <a:rPr lang="en-IN" sz="2400" b="1" dirty="0"/>
              <a:t>Strategic Segmentation &amp; Capital Logic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2113365-EBB4-B1D9-4A8E-412604DDC5E8}"/>
              </a:ext>
            </a:extLst>
          </p:cNvPr>
          <p:cNvSpPr txBox="1">
            <a:spLocks/>
          </p:cNvSpPr>
          <p:nvPr/>
        </p:nvSpPr>
        <p:spPr>
          <a:xfrm>
            <a:off x="455294" y="679968"/>
            <a:ext cx="5640706" cy="3168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200" b="1" dirty="0"/>
              <a:t>2️⃣ Most Responsive Customer Segments (From DEL‑RPI Segmentation)</a:t>
            </a:r>
          </a:p>
          <a:p>
            <a:pPr marL="0" indent="0">
              <a:buNone/>
            </a:pPr>
            <a:r>
              <a:rPr lang="en-IN" sz="1200" b="1" dirty="0"/>
              <a:t>🚀 Emerging Rockets (High KE + High SL)</a:t>
            </a:r>
          </a:p>
          <a:p>
            <a:pPr marL="0" indent="0">
              <a:buNone/>
            </a:pPr>
            <a:r>
              <a:rPr lang="en-IN" sz="1200" dirty="0"/>
              <a:t>Strong growth momentum</a:t>
            </a:r>
          </a:p>
          <a:p>
            <a:pPr marL="0" indent="0">
              <a:buNone/>
            </a:pPr>
            <a:r>
              <a:rPr lang="en-IN" sz="1200" dirty="0"/>
              <a:t>High capital responsiveness</a:t>
            </a:r>
            <a:br>
              <a:rPr lang="en-IN" sz="1200" dirty="0"/>
            </a:br>
            <a:r>
              <a:rPr lang="en-IN" sz="1200" dirty="0"/>
              <a:t>→ Allocate ~40%</a:t>
            </a:r>
            <a:br>
              <a:rPr lang="en-IN" sz="1200" dirty="0"/>
            </a:br>
            <a:r>
              <a:rPr lang="en-IN" sz="1200" dirty="0"/>
              <a:t>Expected Impact: Rapid DEL‑RPI uplift</a:t>
            </a:r>
          </a:p>
          <a:p>
            <a:pPr marL="0" indent="0">
              <a:buNone/>
            </a:pPr>
            <a:r>
              <a:rPr lang="en-IN" sz="1200" b="1" dirty="0"/>
              <a:t>⚡ Volatile Sprinters (High KE, High F)</a:t>
            </a:r>
          </a:p>
          <a:p>
            <a:pPr marL="0" indent="0">
              <a:buNone/>
            </a:pPr>
            <a:r>
              <a:rPr lang="en-IN" sz="1200" dirty="0"/>
              <a:t>→ Allocate ~20%</a:t>
            </a:r>
            <a:br>
              <a:rPr lang="en-IN" sz="1200" dirty="0"/>
            </a:br>
            <a:r>
              <a:rPr lang="en-IN" sz="1200" dirty="0"/>
              <a:t>Expected Impact: Reduce friction → Convert unstable revenue into durable value</a:t>
            </a:r>
          </a:p>
          <a:p>
            <a:pPr marL="0" indent="0">
              <a:buNone/>
            </a:pPr>
            <a:r>
              <a:rPr lang="en-IN" sz="1200" b="1" dirty="0"/>
              <a:t>🌱 Dormant Assets</a:t>
            </a:r>
          </a:p>
          <a:p>
            <a:pPr marL="0" indent="0">
              <a:buNone/>
            </a:pPr>
            <a:r>
              <a:rPr lang="en-IN" sz="1200" dirty="0"/>
              <a:t>→ Allocate minimal (~10%)</a:t>
            </a:r>
            <a:br>
              <a:rPr lang="en-IN" sz="1200" dirty="0"/>
            </a:br>
            <a:r>
              <a:rPr lang="en-IN" sz="1200" dirty="0"/>
              <a:t>Automation-driven engagement only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07285FD-F36F-D7CC-32F5-59249AE957A9}"/>
              </a:ext>
            </a:extLst>
          </p:cNvPr>
          <p:cNvSpPr txBox="1">
            <a:spLocks/>
          </p:cNvSpPr>
          <p:nvPr/>
        </p:nvSpPr>
        <p:spPr>
          <a:xfrm>
            <a:off x="6096000" y="679968"/>
            <a:ext cx="5029200" cy="29002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500"/>
              </a:spcBef>
              <a:buNone/>
            </a:pPr>
            <a:r>
              <a:rPr lang="en-IN" sz="1200" b="1" dirty="0"/>
              <a:t>3️⃣ Expected Portfolio Shift (Dashboard-Level Impact)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200" dirty="0"/>
              <a:t>Based on the component sensitivity observed:</a:t>
            </a:r>
          </a:p>
          <a:p>
            <a:pPr>
              <a:spcBef>
                <a:spcPts val="500"/>
              </a:spcBef>
            </a:pPr>
            <a:r>
              <a:rPr lang="en-IN" sz="1200" dirty="0"/>
              <a:t>Capital Deployment Will: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200" dirty="0"/>
              <a:t>✔ Increase Average DEL‑RPI</a:t>
            </a:r>
            <a:br>
              <a:rPr lang="en-IN" sz="1200" dirty="0"/>
            </a:br>
            <a:r>
              <a:rPr lang="en-IN" sz="1200" dirty="0"/>
              <a:t>✔ Increase Risk-Adjusted Energy (RAE)</a:t>
            </a:r>
            <a:br>
              <a:rPr lang="en-IN" sz="1200" dirty="0"/>
            </a:br>
            <a:r>
              <a:rPr lang="en-IN" sz="1200" dirty="0"/>
              <a:t>✔ Increase Subscription Penetration</a:t>
            </a:r>
            <a:br>
              <a:rPr lang="en-IN" sz="1200" dirty="0"/>
            </a:br>
            <a:r>
              <a:rPr lang="en-IN" sz="1200" dirty="0"/>
              <a:t>✔ Reduce Return-Related Loss %</a:t>
            </a:r>
            <a:br>
              <a:rPr lang="en-IN" sz="1200" dirty="0"/>
            </a:br>
            <a:r>
              <a:rPr lang="en-IN" sz="1200" dirty="0"/>
              <a:t>✔ Improve Portfolio Stability Index</a:t>
            </a:r>
          </a:p>
          <a:p>
            <a:pPr>
              <a:spcBef>
                <a:spcPts val="500"/>
              </a:spcBef>
            </a:pPr>
            <a:r>
              <a:rPr lang="en-IN" sz="1200" dirty="0"/>
              <a:t>Strategic Outcome: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200" dirty="0"/>
              <a:t>Revenue concentration shifts from volatile clusters</a:t>
            </a:r>
            <a:br>
              <a:rPr lang="en-IN" sz="1200" dirty="0"/>
            </a:br>
            <a:r>
              <a:rPr lang="en-IN" sz="1200" dirty="0"/>
              <a:t>→ toward stable, scalable, capital-efficient segments.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52DEEAE-09C6-CCF8-241B-1CC5E5F46C05}"/>
              </a:ext>
            </a:extLst>
          </p:cNvPr>
          <p:cNvSpPr txBox="1">
            <a:spLocks/>
          </p:cNvSpPr>
          <p:nvPr/>
        </p:nvSpPr>
        <p:spPr>
          <a:xfrm>
            <a:off x="1765297" y="4081280"/>
            <a:ext cx="6228084" cy="20967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IN" sz="1200" b="1" dirty="0"/>
              <a:t>Final Strategic Logic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200" dirty="0"/>
              <a:t>We are not maximising revenue.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200" dirty="0"/>
              <a:t>We are maximising:</a:t>
            </a:r>
          </a:p>
          <a:p>
            <a:pPr>
              <a:spcBef>
                <a:spcPts val="500"/>
              </a:spcBef>
            </a:pPr>
            <a:r>
              <a:rPr lang="en-IN" sz="1200" b="1" dirty="0"/>
              <a:t>Risk‑Adjusted, Investable Customer Equity</a:t>
            </a:r>
            <a:endParaRPr lang="en-IN" sz="1200" dirty="0"/>
          </a:p>
          <a:p>
            <a:pPr marL="0" indent="0">
              <a:spcBef>
                <a:spcPts val="500"/>
              </a:spcBef>
              <a:buNone/>
            </a:pPr>
            <a:r>
              <a:rPr lang="en-IN" sz="1200" dirty="0"/>
              <a:t>The ₹1 Crore is deployed not to grow in size,</a:t>
            </a:r>
            <a:br>
              <a:rPr lang="en-IN" sz="1200" dirty="0"/>
            </a:br>
            <a:r>
              <a:rPr lang="en-IN" sz="1200" dirty="0"/>
              <a:t>but to improve portfolio quality —</a:t>
            </a:r>
            <a:br>
              <a:rPr lang="en-IN" sz="1200" dirty="0"/>
            </a:br>
            <a:r>
              <a:rPr lang="en-IN" sz="1200" dirty="0"/>
              <a:t>as reflected directly in the DEL‑RPI dashboard movement.</a:t>
            </a:r>
          </a:p>
        </p:txBody>
      </p:sp>
    </p:spTree>
    <p:extLst>
      <p:ext uri="{BB962C8B-B14F-4D97-AF65-F5344CB8AC3E}">
        <p14:creationId xmlns:p14="http://schemas.microsoft.com/office/powerpoint/2010/main" val="3564497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DF120-0CE5-2969-401F-162594D9F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007FE-C840-D50C-5600-821EFCC97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527" y="504328"/>
            <a:ext cx="9084946" cy="420112"/>
          </a:xfrm>
        </p:spPr>
        <p:txBody>
          <a:bodyPr>
            <a:noAutofit/>
          </a:bodyPr>
          <a:lstStyle/>
          <a:p>
            <a:r>
              <a:rPr lang="en-IN" sz="2000" b="1" dirty="0"/>
              <a:t>APPENDIX — Technical &amp; Dashboard Integration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561FDA5-AFA3-6092-403E-7394526639AD}"/>
              </a:ext>
            </a:extLst>
          </p:cNvPr>
          <p:cNvSpPr txBox="1">
            <a:spLocks/>
          </p:cNvSpPr>
          <p:nvPr/>
        </p:nvSpPr>
        <p:spPr>
          <a:xfrm>
            <a:off x="7235826" y="1229360"/>
            <a:ext cx="4348480" cy="2976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A3 — Dashboard Linkage</a:t>
            </a:r>
          </a:p>
          <a:p>
            <a:pPr marL="0" indent="0">
              <a:buNone/>
            </a:pPr>
            <a:r>
              <a:rPr lang="en-US" sz="1400" dirty="0"/>
              <a:t>Each visual element maps directly to one DEL‑RPI component.</a:t>
            </a:r>
          </a:p>
          <a:p>
            <a:r>
              <a:rPr lang="en-US" sz="1400" dirty="0"/>
              <a:t>This ensures:</a:t>
            </a:r>
          </a:p>
          <a:p>
            <a:pPr marL="0" indent="0">
              <a:buNone/>
            </a:pPr>
            <a:r>
              <a:rPr lang="en-US" sz="1400" dirty="0"/>
              <a:t>Strategy → Model → Dashboard → Decision</a:t>
            </a:r>
            <a:br>
              <a:rPr lang="en-US" sz="1400" dirty="0"/>
            </a:br>
            <a:r>
              <a:rPr lang="en-US" sz="1400" dirty="0"/>
              <a:t>are fully aligned.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045E491-85B6-E61F-8766-57C6722781C3}"/>
              </a:ext>
            </a:extLst>
          </p:cNvPr>
          <p:cNvSpPr txBox="1">
            <a:spLocks/>
          </p:cNvSpPr>
          <p:nvPr/>
        </p:nvSpPr>
        <p:spPr>
          <a:xfrm>
            <a:off x="3921760" y="1229360"/>
            <a:ext cx="3314066" cy="3373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A2 — Final Dataset Structure</a:t>
            </a:r>
          </a:p>
          <a:p>
            <a:pPr marL="0" indent="0">
              <a:buNone/>
            </a:pPr>
            <a:r>
              <a:rPr lang="en-US" sz="1400" dirty="0"/>
              <a:t>Customer ID</a:t>
            </a:r>
            <a:br>
              <a:rPr lang="en-US" sz="1400" dirty="0"/>
            </a:br>
            <a:r>
              <a:rPr lang="en-US" sz="1400" dirty="0"/>
              <a:t>SE</a:t>
            </a:r>
            <a:br>
              <a:rPr lang="en-US" sz="1400" dirty="0"/>
            </a:br>
            <a:r>
              <a:rPr lang="en-US" sz="1400" dirty="0"/>
              <a:t>KE</a:t>
            </a:r>
            <a:br>
              <a:rPr lang="en-US" sz="1400" dirty="0"/>
            </a:br>
            <a:r>
              <a:rPr lang="en-US" sz="1400" dirty="0"/>
              <a:t>F</a:t>
            </a:r>
            <a:br>
              <a:rPr lang="en-US" sz="1400" dirty="0"/>
            </a:br>
            <a:r>
              <a:rPr lang="en-US" sz="1400" dirty="0"/>
              <a:t>SL</a:t>
            </a:r>
            <a:br>
              <a:rPr lang="en-US" sz="1400" dirty="0"/>
            </a:br>
            <a:r>
              <a:rPr lang="en-US" sz="1400" dirty="0"/>
              <a:t>BE</a:t>
            </a:r>
            <a:br>
              <a:rPr lang="en-US" sz="1400" dirty="0"/>
            </a:br>
            <a:r>
              <a:rPr lang="en-US" sz="1400" dirty="0"/>
              <a:t>RAE</a:t>
            </a:r>
            <a:br>
              <a:rPr lang="en-US" sz="1400" dirty="0"/>
            </a:br>
            <a:r>
              <a:rPr lang="en-US" sz="1400" dirty="0"/>
              <a:t>DEL‑RPI</a:t>
            </a:r>
            <a:br>
              <a:rPr lang="en-US" sz="1400" dirty="0"/>
            </a:br>
            <a:r>
              <a:rPr lang="en-US" sz="1400" dirty="0"/>
              <a:t>Segment</a:t>
            </a:r>
            <a:br>
              <a:rPr lang="en-US" sz="1400" dirty="0"/>
            </a:br>
            <a:r>
              <a:rPr lang="en-US" sz="1400" dirty="0"/>
              <a:t>Rank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833753C-AB4C-44E2-36CB-8E59A34DEA0C}"/>
              </a:ext>
            </a:extLst>
          </p:cNvPr>
          <p:cNvSpPr txBox="1">
            <a:spLocks/>
          </p:cNvSpPr>
          <p:nvPr/>
        </p:nvSpPr>
        <p:spPr>
          <a:xfrm>
            <a:off x="607694" y="1229360"/>
            <a:ext cx="3314066" cy="2976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A1 — Component Construction</a:t>
            </a:r>
          </a:p>
          <a:p>
            <a:pPr marL="0" indent="0">
              <a:buNone/>
            </a:pPr>
            <a:r>
              <a:rPr lang="en-US" sz="1400" dirty="0"/>
              <a:t>SE = Revenue Strength Composite</a:t>
            </a:r>
            <a:br>
              <a:rPr lang="en-US" sz="1400" dirty="0"/>
            </a:br>
            <a:r>
              <a:rPr lang="en-US" sz="1400" dirty="0"/>
              <a:t>KE = Growth Momentum Composite</a:t>
            </a:r>
            <a:br>
              <a:rPr lang="en-US" sz="1400" dirty="0"/>
            </a:br>
            <a:r>
              <a:rPr lang="en-US" sz="1400" dirty="0"/>
              <a:t>F = Risk &amp; Volatility Composite</a:t>
            </a:r>
            <a:br>
              <a:rPr lang="en-US" sz="1400" dirty="0"/>
            </a:br>
            <a:r>
              <a:rPr lang="en-US" sz="1400" dirty="0"/>
              <a:t>SL = Investment Responsiveness Composite</a:t>
            </a:r>
          </a:p>
          <a:p>
            <a:pPr marL="0" indent="0">
              <a:buNone/>
            </a:pPr>
            <a:r>
              <a:rPr lang="en-US" sz="1400" dirty="0"/>
              <a:t>All </a:t>
            </a:r>
            <a:r>
              <a:rPr lang="en-US" sz="1400" dirty="0" err="1"/>
              <a:t>normalised</a:t>
            </a:r>
            <a:r>
              <a:rPr lang="en-US" sz="1400" dirty="0"/>
              <a:t> 0–1.</a:t>
            </a:r>
          </a:p>
        </p:txBody>
      </p:sp>
    </p:spTree>
    <p:extLst>
      <p:ext uri="{BB962C8B-B14F-4D97-AF65-F5344CB8AC3E}">
        <p14:creationId xmlns:p14="http://schemas.microsoft.com/office/powerpoint/2010/main" val="791409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1D14B5-A31C-8941-507A-681A4B46F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240453"/>
            <a:ext cx="8991600" cy="1645920"/>
          </a:xfrm>
        </p:spPr>
        <p:txBody>
          <a:bodyPr>
            <a:normAutofit/>
          </a:bodyPr>
          <a:lstStyle/>
          <a:p>
            <a:r>
              <a:rPr lang="en-IN" sz="5400" dirty="0"/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4ED07A-745C-2B7A-627A-397CC2B35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54474" y="3509184"/>
            <a:ext cx="5402326" cy="1645919"/>
          </a:xfrm>
        </p:spPr>
        <p:txBody>
          <a:bodyPr>
            <a:normAutofit/>
          </a:bodyPr>
          <a:lstStyle/>
          <a:p>
            <a:r>
              <a:rPr lang="en-IN" dirty="0"/>
              <a:t>Dhiren Walia (Dw7)</a:t>
            </a:r>
          </a:p>
          <a:p>
            <a:r>
              <a:rPr lang="en-IN" dirty="0"/>
              <a:t>1</a:t>
            </a:r>
            <a:r>
              <a:rPr lang="en-IN" baseline="30000" dirty="0"/>
              <a:t>st</a:t>
            </a:r>
            <a:r>
              <a:rPr lang="en-IN" dirty="0"/>
              <a:t> year, BBA-MBA Integrated Course</a:t>
            </a:r>
          </a:p>
          <a:p>
            <a:r>
              <a:rPr lang="en-IN" dirty="0"/>
              <a:t>National Forensic Science University, New Delhi.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EEC4804-372B-4135-8571-4D8D9FD9B98D}"/>
              </a:ext>
            </a:extLst>
          </p:cNvPr>
          <p:cNvSpPr txBox="1">
            <a:spLocks/>
          </p:cNvSpPr>
          <p:nvPr/>
        </p:nvSpPr>
        <p:spPr>
          <a:xfrm>
            <a:off x="2657348" y="3509185"/>
            <a:ext cx="1897126" cy="440433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Presented by:</a:t>
            </a:r>
          </a:p>
        </p:txBody>
      </p:sp>
    </p:spTree>
    <p:extLst>
      <p:ext uri="{BB962C8B-B14F-4D97-AF65-F5344CB8AC3E}">
        <p14:creationId xmlns:p14="http://schemas.microsoft.com/office/powerpoint/2010/main" val="2689400428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635D4D"/>
      </a:dk2>
      <a:lt2>
        <a:srgbClr val="D8D6BA"/>
      </a:lt2>
      <a:accent1>
        <a:srgbClr val="9CBEBD"/>
      </a:accent1>
      <a:accent2>
        <a:srgbClr val="D2CB6C"/>
      </a:accent2>
      <a:accent3>
        <a:srgbClr val="9D9A93"/>
      </a:accent3>
      <a:accent4>
        <a:srgbClr val="C89F5D"/>
      </a:accent4>
      <a:accent5>
        <a:srgbClr val="A9A57C"/>
      </a:accent5>
      <a:accent6>
        <a:srgbClr val="95A39D"/>
      </a:accent6>
      <a:hlink>
        <a:srgbClr val="D25814"/>
      </a:hlink>
      <a:folHlink>
        <a:srgbClr val="849A0A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123</TotalTime>
  <Words>1052</Words>
  <Application>Microsoft Office PowerPoint</Application>
  <PresentationFormat>Widescreen</PresentationFormat>
  <Paragraphs>151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Parcel</vt:lpstr>
      <vt:lpstr>EPSILON 7.0</vt:lpstr>
      <vt:lpstr>DEL‑RPI — Dynamic Energy &amp; Leverage Risk‑Adjusted Performance Index</vt:lpstr>
      <vt:lpstr>The Science &amp; Mathematics Behind DEL‑RPI</vt:lpstr>
      <vt:lpstr>Strategic Segmentation &amp; Capital Logic</vt:lpstr>
      <vt:lpstr>Strategic Segmentation &amp; Capital Logic</vt:lpstr>
      <vt:lpstr>APPENDIX — Technical &amp; Dashboard Integration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Dhiren Walia</dc:creator>
  <cp:lastModifiedBy>Dhiren Walia</cp:lastModifiedBy>
  <cp:revision>1</cp:revision>
  <dcterms:created xsi:type="dcterms:W3CDTF">2026-02-23T08:48:03Z</dcterms:created>
  <dcterms:modified xsi:type="dcterms:W3CDTF">2026-02-23T10:52:00Z</dcterms:modified>
</cp:coreProperties>
</file>